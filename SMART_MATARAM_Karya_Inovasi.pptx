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0" y="-1371600"/>
            <a:ext cx="4572000" cy="4572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3200400"/>
            <a:ext cx="3657600" cy="36576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-914400" y="4572000"/>
            <a:ext cx="2743200" cy="2743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3200400" cy="41148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57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4D40"/>
                </a:solidFill>
              </a:rPr>
              <a:t>KARYA INOVASI PLN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</a:rPr>
              <a:t>SMART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D600"/>
                </a:solidFill>
              </a:rPr>
              <a:t>MATARAM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2DFDB"/>
                </a:solidFill>
              </a:rPr>
              <a:t>Sistem Monitoring Aset dan Respon Terpadu Mataram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4160520"/>
            <a:ext cx="5760720" cy="2743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297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600"/>
                </a:solidFill>
              </a:rPr>
              <a:t>TIM INOVASI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663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Aruf Budiman  ·  TL OP UP3 Mataram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98347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Lalu Indrawan Saputra  ·  TL Teknik ULP Ampenan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Imam Al Gazali  ·  TL Teknik ULP Tanjung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63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D6D7E"/>
                </a:solidFill>
              </a:rPr>
              <a:t>PLN UP3 Mataram  · 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|  MASALAH &amp; KONDISI AWAL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DFDB"/>
                </a:solidFill>
              </a:rPr>
              <a:t>Tantangan yang dihadapi tim operasi PLN UP3 Mataram sebelum inovasi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760720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988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🔍  Inspeksi Tidak Termonitor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55648"/>
            <a:ext cx="5760720" cy="1810512"/>
          </a:xfrm>
          <a:prstGeom prst="rect">
            <a:avLst/>
          </a:prstGeom>
          <a:solidFill>
            <a:srgbClr val="FFEBE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828800"/>
            <a:ext cx="554126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→  Temuan dikirim via WhatsApp Group
→  Rawan hilang di antara pesan lain
→  Tidak ada tracking status pengerjaan
→  Tim sulit mencari temuan lama saat mau dikerjakan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371600"/>
            <a:ext cx="5760720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8988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⚡  Anomali Gardu Terlambat Dideteksi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755648"/>
            <a:ext cx="5760720" cy="1810512"/>
          </a:xfrm>
          <a:prstGeom prst="rect">
            <a:avLst/>
          </a:prstGeom>
          <a:solidFill>
            <a:srgbClr val="FFEBE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828800"/>
            <a:ext cx="554126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→  Pengukuran gardu hanya terpantau setelah direkap ke AMG
→  Gardu overload &amp; suhu tinggi tidak terdeteksi secara real-time
→  Respon perbaikan terlambat, risiko kerusakan aset meningkat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49039"/>
            <a:ext cx="5760720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767327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📋  Tidak Ada Sistem Evaluasi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133087"/>
            <a:ext cx="5760720" cy="1810512"/>
          </a:xfrm>
          <a:prstGeom prst="rect">
            <a:avLst/>
          </a:prstGeom>
          <a:solidFill>
            <a:srgbClr val="FFEBE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4206239"/>
            <a:ext cx="554126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→  Tidak bisa memantau temuan mana yang sudah/belum dikerjakan
→  Tidak ada laporan progres ke atasan secara otomatis
→  Akuntabilitas tim eksekusi sulit diukur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39"/>
            <a:ext cx="5760720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767327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🔗  Data Terfragmentasi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7"/>
            <a:ext cx="5760720" cy="1810512"/>
          </a:xfrm>
          <a:prstGeom prst="rect">
            <a:avLst/>
          </a:prstGeom>
          <a:solidFill>
            <a:srgbClr val="FFEBE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206239"/>
            <a:ext cx="554126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→  Inspeksi jaringan, inspeksi pohon, dan pengukuran gardu di sistem terpisah
→  Tidak ada satu dashboard tunggal untuk semua informasi
→  UP3 tidak bisa memantau kondisi 4 ULP sekaligus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6053328"/>
            <a:ext cx="11612880" cy="2011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05332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TINGKAT DAMPAK TERHADAP OPERASIONAL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6254496"/>
            <a:ext cx="2857500" cy="457200"/>
          </a:xfrm>
          <a:prstGeom prst="rect">
            <a:avLst/>
          </a:prstGeom>
          <a:solidFill>
            <a:srgbClr val="FFF0F0"/>
          </a:solidFill>
          <a:ln w="635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6254496"/>
            <a:ext cx="2143125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272784"/>
            <a:ext cx="267462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 Kehilangan Temuan Inspeksi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74620" y="6272784"/>
            <a:ext cx="4114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1B2631"/>
                </a:solidFill>
              </a:rPr>
              <a:t>75%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77540" y="6254496"/>
            <a:ext cx="2857500" cy="457200"/>
          </a:xfrm>
          <a:prstGeom prst="rect">
            <a:avLst/>
          </a:prstGeom>
          <a:solidFill>
            <a:srgbClr val="FFF0F0"/>
          </a:solidFill>
          <a:ln w="635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77540" y="6254496"/>
            <a:ext cx="2571750" cy="457200"/>
          </a:xfrm>
          <a:prstGeom prst="rect">
            <a:avLst/>
          </a:prstGeom>
          <a:solidFill>
            <a:srgbClr val="D8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68980" y="6272784"/>
            <a:ext cx="267462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 Anomali Gardu Terlambat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6272784"/>
            <a:ext cx="4114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1B2631"/>
                </a:solidFill>
              </a:rPr>
              <a:t>90%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6254496"/>
            <a:ext cx="2857500" cy="457200"/>
          </a:xfrm>
          <a:prstGeom prst="rect">
            <a:avLst/>
          </a:prstGeom>
          <a:solidFill>
            <a:srgbClr val="FFF0F0"/>
          </a:solidFill>
          <a:ln w="635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0760" y="6254496"/>
            <a:ext cx="1857375" cy="457200"/>
          </a:xfrm>
          <a:prstGeom prst="rect">
            <a:avLst/>
          </a:prstGeom>
          <a:solidFill>
            <a:srgbClr val="F59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6272784"/>
            <a:ext cx="267462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 Akuntabilitas Rendah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1060" y="6272784"/>
            <a:ext cx="4114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1B2631"/>
                </a:solidFill>
              </a:rPr>
              <a:t>65%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83980" y="6254496"/>
            <a:ext cx="2857500" cy="457200"/>
          </a:xfrm>
          <a:prstGeom prst="rect">
            <a:avLst/>
          </a:prstGeom>
          <a:solidFill>
            <a:srgbClr val="FFF0F0"/>
          </a:solidFill>
          <a:ln w="635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83980" y="6254496"/>
            <a:ext cx="2286000" cy="4572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75420" y="6272784"/>
            <a:ext cx="267462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 Visibilitas UP3 Terbatas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272784"/>
            <a:ext cx="4114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1B2631"/>
                </a:solidFill>
              </a:rPr>
              <a:t>80%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 |  ANALISIS AKAR MASALAH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DFDB"/>
                </a:solidFill>
              </a:rPr>
              <a:t>Mengapa kondisi ini bisa terjadi?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411480" cy="9601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572768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371600"/>
            <a:ext cx="10515600" cy="9601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D40"/>
                </a:solidFill>
              </a:rPr>
              <a:t>Belum Ada Sistem Terintegrasi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5564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Seluruh proses operasi — inspeksi, pengukuran gardu, monitoring gangguan — dilakukan secara manual dan tersebar di platform berbeda (WA, Excel, AMG) tanpa satu sumber data terpusat.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78608"/>
            <a:ext cx="411480" cy="9601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779776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78608"/>
            <a:ext cx="10515600" cy="9601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24328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D40"/>
                </a:solidFill>
              </a:rPr>
              <a:t>Proses Manual &amp; Tidak Terstandar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62656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Pelaporan bergantung pada inisiatif individu. Tidak ada workflow baku dari temuan → penugasan → eksekusi → verifikasi selesai, sehingga temuan mudah terlewat.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785616"/>
            <a:ext cx="411480" cy="9601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86784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785616"/>
            <a:ext cx="10515600" cy="9601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831336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D40"/>
                </a:solidFill>
              </a:rPr>
              <a:t>Tidak Ada Notifikasi &amp; Alerting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169664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Tidak ada sistem yang otomatis memberi tahu tim saat ada anomali gardu (overload/suhu tinggi) atau temuan inspeksi yang belum ditindak melebihi batas waktu.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992624"/>
            <a:ext cx="411480" cy="9601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519379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992624"/>
            <a:ext cx="10515600" cy="960120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038344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D40"/>
                </a:solidFill>
              </a:rPr>
              <a:t>Keterbatasan Visibilitas UP3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76672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Manajer UP3 tidak dapat memantau kondisi seluruh 4 ULP secara bersamaan dalam satu dashboard. Evaluasi hanya bisa dilakukan melalui rapat atau laporan periodik.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2628" y="2331720"/>
            <a:ext cx="54864" cy="11887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2044" y="2441448"/>
            <a:ext cx="256032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6908" y="2514600"/>
            <a:ext cx="146304" cy="54864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2628" y="2569464"/>
            <a:ext cx="54864" cy="9144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2628" y="3538728"/>
            <a:ext cx="54864" cy="11887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2044" y="3648456"/>
            <a:ext cx="256032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908" y="3721608"/>
            <a:ext cx="146304" cy="54864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2628" y="3776472"/>
            <a:ext cx="54864" cy="9144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2628" y="4745736"/>
            <a:ext cx="54864" cy="11887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2044" y="4855464"/>
            <a:ext cx="256032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6908" y="4928616"/>
            <a:ext cx="146304" cy="54864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2628" y="4983480"/>
            <a:ext cx="54864" cy="9144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" y="6025896"/>
            <a:ext cx="1161288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07161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⚠️  DAMPAK: Gangguan tidak tertangani tepat waktu  ·  Aset berisiko rusak  ·  Kualitas layanan pelanggan menurun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201400" y="1371600"/>
            <a:ext cx="731520" cy="493776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1400" y="1417320"/>
            <a:ext cx="731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D600"/>
                </a:solidFill>
              </a:rPr>
              <a:t>S
E
B
A
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01400" y="34747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D600"/>
                </a:solidFill>
              </a:rPr>
              <a:t>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01400" y="3931920"/>
            <a:ext cx="731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A000"/>
                </a:solidFill>
              </a:rPr>
              <a:t>A
K
I
B
A
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|  IDE INOVASI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DFDB"/>
                </a:solidFill>
              </a:rPr>
              <a:t>Satu platform digital untuk semua kebutuhan monitoring operasi distribusi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11612880" cy="77724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SMART MATARAM — Web App Monitoring Aset Terpadu Berbasis Cloud</a:t>
            </a:r>
          </a:p>
        </p:txBody>
      </p:sp>
      <p:sp>
        <p:nvSpPr>
          <p:cNvPr id="8" name="Rectangle 7"/>
          <p:cNvSpPr/>
          <p:nvPr/>
        </p:nvSpPr>
        <p:spPr>
          <a:xfrm>
            <a:off x="1668780" y="2148840"/>
            <a:ext cx="45720" cy="2286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27632" y="2084832"/>
            <a:ext cx="128016" cy="12801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36776" y="2322576"/>
            <a:ext cx="109728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2148840"/>
            <a:ext cx="45720" cy="2286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99432" y="2084832"/>
            <a:ext cx="128016" cy="12801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08576" y="2322576"/>
            <a:ext cx="109728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12380" y="2148840"/>
            <a:ext cx="45720" cy="2286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71232" y="2084832"/>
            <a:ext cx="128016" cy="12801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0376" y="2322576"/>
            <a:ext cx="109728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84180" y="2148840"/>
            <a:ext cx="45720" cy="2286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43032" y="2084832"/>
            <a:ext cx="128016" cy="12801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552176" y="2322576"/>
            <a:ext cx="109728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68780" y="2125980"/>
            <a:ext cx="8961120" cy="457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2377440"/>
            <a:ext cx="2834640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3957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🔍  Inspeksi Jaringan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761488"/>
            <a:ext cx="2834640" cy="373075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2834640"/>
            <a:ext cx="26151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Input temuan langsung dari lapangan
●  Tracking status: Temuan → Ditugaskan → Selesai
●  Foto sebelum &amp; sesudah perbaikan
●  Filter per ULP, penyulang, tim eksekutor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6120" y="2377440"/>
            <a:ext cx="2834640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7560" y="23957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🌳  Inspeksi Pohon/ROW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2761488"/>
            <a:ext cx="2834640" cy="373075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2834640"/>
            <a:ext cx="26151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Monitoring pohon berbahaya di jalur penyulang
●  Urgency level: Normal, Urgent, Sangat Urgent
●  Ditugaskan ke tim PERABASAN
●  Peta interaktif lokasi temuan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377440"/>
            <a:ext cx="2834640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3957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⚡  Pengukuran Gardu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761488"/>
            <a:ext cx="2834640" cy="373075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2834640"/>
            <a:ext cx="26151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Dashboard beban gardu real-time
●  Alert otomatis: overload ≥80%, suhu &gt;60°C
●  Work Order PDF otomatis + tracking WO dikirim
●  Riwayat pengukuran per gardu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9720" y="2377440"/>
            <a:ext cx="2834640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81160" y="23957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📊  Score Board &amp; Morning Brief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89720" y="2761488"/>
            <a:ext cx="2834640" cy="373075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99448" y="2834640"/>
            <a:ext cx="26151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Lead Measures mingguan dengan tracking WIN/LOSE
●  Rekap gangguan penyulang (SAIDI/SAIFI)
●  Morning Brief otomatis ke Telegram jam 08.00 WITA
●  Mode presentasi seperti PowerPoint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|  IMPLEMENTASI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DFDB"/>
                </a:solidFill>
              </a:rPr>
              <a:t>Bagaimana dan di mana SMART MATARAM diterapkan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834640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988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🏗️  Teknologi yang Digunakan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55648"/>
            <a:ext cx="2834640" cy="373075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828800"/>
            <a:ext cx="26151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Next.js 16 (web framework modern)
●  Supabase (database cloud + autentikasi)
●  Google Sheets API (data gangguan existing)
●  Vercel (hosting, auto-deploy, cron job)
●  Telegram Bot API (notifikasi otomatis)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371600"/>
            <a:ext cx="2834640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8988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👥  Sistem Role &amp; Akses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755648"/>
            <a:ext cx="2834640" cy="373075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828800"/>
            <a:ext cx="26151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UP3 — akses semua ULP, semua modul
●  Admin ULP — kelola data unit masing-masing
●  Inspektor — input temuan lapangan
●  HARJAR / HARGAR / PERABASAN — eksekusi temuan
●  YANGU / PDKB — task sesuai bidang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834640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8988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📍  Lokasi Penerapan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55648"/>
            <a:ext cx="2834640" cy="373075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828800"/>
            <a:ext cx="26151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ULP Ampenan ✓
●  ULP Cakranegara ✓
●  ULP Gerung ✓
●  ULP Tanjung ✓
●  Seluruh ULP di bawah UP3 Mataram sudah aktif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371600"/>
            <a:ext cx="2834640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38988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⚙️  Proses Implementasi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755648"/>
            <a:ext cx="2834640" cy="373075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9448" y="1828800"/>
            <a:ext cx="26151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Pengembangan iteratif — fitur aktif langsung dipakai
●  Training user per ULP
●  Telegram bot aktif kirim laporan tiap pagi
●  Integrasi data Google Sheets tanpa migrasi data besar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440680"/>
            <a:ext cx="11612880" cy="18288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458968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ARSITEKTUR TEKNOLOGI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" y="5623560"/>
            <a:ext cx="1691640" cy="1005840"/>
          </a:xfrm>
          <a:prstGeom prst="rect">
            <a:avLst/>
          </a:prstGeom>
          <a:solidFill>
            <a:srgbClr val="1D4E89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756" y="56692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👤 Pengguna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" y="609904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2DFDB"/>
                </a:solidFill>
              </a:rPr>
              <a:t>Browser / HP
di lapangan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25396" y="6099048"/>
            <a:ext cx="137160" cy="5486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35124" y="6016752"/>
            <a:ext cx="54864" cy="21945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189988" y="6053328"/>
            <a:ext cx="54864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44852" y="6089904"/>
            <a:ext cx="54864" cy="7315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99716" y="5623560"/>
            <a:ext cx="1691640" cy="1005840"/>
          </a:xfrm>
          <a:prstGeom prst="rect">
            <a:avLst/>
          </a:prstGeom>
          <a:solidFill>
            <a:srgbClr val="004D40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99716" y="56692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⚡ Next.js 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99716" y="609904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2DFDB"/>
                </a:solidFill>
              </a:rPr>
              <a:t>Web App
App Router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91356" y="6099048"/>
            <a:ext cx="137160" cy="5486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01084" y="6016752"/>
            <a:ext cx="54864" cy="21945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55948" y="6053328"/>
            <a:ext cx="54864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10812" y="6089904"/>
            <a:ext cx="54864" cy="7315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65676" y="5623560"/>
            <a:ext cx="1691640" cy="10058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56692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🗄️ Supabase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65676" y="609904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2DFDB"/>
                </a:solidFill>
              </a:rPr>
              <a:t>Database
+ Auth Cloud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57316" y="6099048"/>
            <a:ext cx="137160" cy="5486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67044" y="6016752"/>
            <a:ext cx="54864" cy="21945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21908" y="6053328"/>
            <a:ext cx="54864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6772" y="6089904"/>
            <a:ext cx="54864" cy="7315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31636" y="5623560"/>
            <a:ext cx="1691640" cy="1005840"/>
          </a:xfrm>
          <a:prstGeom prst="rect">
            <a:avLst/>
          </a:prstGeom>
          <a:solidFill>
            <a:srgbClr val="1E6F2D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1636" y="56692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📊 Google Sheets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1636" y="609904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2DFDB"/>
                </a:solidFill>
              </a:rPr>
              <a:t>Data Gangguan
Existing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3276" y="6099048"/>
            <a:ext cx="137160" cy="5486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33004" y="6016752"/>
            <a:ext cx="54864" cy="21945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87868" y="6053328"/>
            <a:ext cx="54864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42732" y="6089904"/>
            <a:ext cx="54864" cy="7315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97596" y="5623560"/>
            <a:ext cx="1691640" cy="1005840"/>
          </a:xfrm>
          <a:prstGeom prst="rect">
            <a:avLst/>
          </a:prstGeom>
          <a:solidFill>
            <a:srgbClr val="1B263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97596" y="56692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☁️ Vercel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7596" y="609904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2DFDB"/>
                </a:solidFill>
              </a:rPr>
              <a:t>Hosting
Cron Jobs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89236" y="6099048"/>
            <a:ext cx="137160" cy="5486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998964" y="6016752"/>
            <a:ext cx="54864" cy="21945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53828" y="6053328"/>
            <a:ext cx="54864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108692" y="6089904"/>
            <a:ext cx="54864" cy="7315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163556" y="5623560"/>
            <a:ext cx="1691640" cy="1005840"/>
          </a:xfrm>
          <a:prstGeom prst="rect">
            <a:avLst/>
          </a:prstGeom>
          <a:solidFill>
            <a:srgbClr val="0088CC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63556" y="56692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📱 Telegram Bot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63556" y="609904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2DFDB"/>
                </a:solidFill>
              </a:rPr>
              <a:t>Notifikasi
Morning Brief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|  PERBANDINGAN BEFORE vs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DFDB"/>
                </a:solidFill>
              </a:rPr>
              <a:t>Transformasi nyata dari kondisi lama ke kondisi baru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394960" cy="5029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19672" y="1371600"/>
            <a:ext cx="5394960" cy="50292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1371600"/>
            <a:ext cx="1216152" cy="5029200"/>
          </a:xfrm>
          <a:prstGeom prst="rect">
            <a:avLst/>
          </a:prstGeom>
          <a:solidFill>
            <a:srgbClr val="1B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173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SEBELUM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14173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SESUDAH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1920240"/>
            <a:ext cx="1216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D600"/>
                </a:solidFill>
              </a:rPr>
              <a:t>VS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2697480"/>
            <a:ext cx="1069848" cy="1005840"/>
          </a:xfrm>
          <a:prstGeom prst="rect">
            <a:avLst/>
          </a:prstGeom>
          <a:solidFill>
            <a:srgbClr val="004D40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552" y="2770632"/>
            <a:ext cx="10698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D600"/>
                </a:solidFill>
              </a:rP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552" y="3227832"/>
            <a:ext cx="1069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2DFDB"/>
                </a:solidFill>
              </a:rPr>
              <a:t>Temuan
hilang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59552" y="3886200"/>
            <a:ext cx="1069848" cy="1005840"/>
          </a:xfrm>
          <a:prstGeom prst="rect">
            <a:avLst/>
          </a:prstGeom>
          <a:solidFill>
            <a:srgbClr val="004D40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959352"/>
            <a:ext cx="10698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D600"/>
                </a:solidFill>
              </a:rPr>
              <a:t>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4416552"/>
            <a:ext cx="1069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2DFDB"/>
                </a:solidFill>
              </a:rPr>
              <a:t>Lebih
cepat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59552" y="5074920"/>
            <a:ext cx="1069848" cy="1005840"/>
          </a:xfrm>
          <a:prstGeom prst="rect">
            <a:avLst/>
          </a:prstGeom>
          <a:solidFill>
            <a:srgbClr val="004D40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552" y="5148072"/>
            <a:ext cx="10698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D600"/>
                </a:solidFill>
              </a:rPr>
              <a:t>24/7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5605272"/>
            <a:ext cx="1069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2DFDB"/>
                </a:solidFill>
              </a:rPr>
              <a:t>Monitor
otomatis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Temuan inspeksi dikirim via WhatsApp Group
✗  Rawan hilang, tidak ada tracking
✗  Pengukuran gardu hanya terpantau setelah direkap ke AMG
✗  Anomali gardu (overload/suhu) diketahui terlambat
✗  Tidak ada laporan progres otomatis
✗  UP3 harus menunggu laporan manual dari ULP
✗  Work Order tulis tangan / Excel
✗  Data inspeksi, gardu, gangguan di platform terpisah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19202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Temuan tercatat di database cloud, tidak hilang
✓  Tracking status real-time: Temuan → Proses → Selesai
✓  Dashboard gardu live, anomali muncul langsung
✓  Alert otomatis overload ≥80% &amp; suhu &gt;60°C
✓  Morning Brief otomatis ke Telegram jam 08.00 WITA
✓  UP3 pantau semua 4 ULP dari satu dashboard
✓  Work Order PDF otomatis, tracking WO terkirim
✓  Satu platform terintegrasi: inspeksi + gardu + gangguan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|  MANFAAT UTAMA &amp; DAMPAK NYATA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DFDB"/>
                </a:solidFill>
              </a:rPr>
              <a:t>Hasil yang dirasakan langsung oleh tim operasi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743200" cy="1554480"/>
          </a:xfrm>
          <a:prstGeom prst="rect">
            <a:avLst/>
          </a:prstGeom>
          <a:solidFill>
            <a:srgbClr val="E0F2F1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137160" cy="155448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4D40"/>
                </a:solidFill>
              </a:rPr>
              <a:t>4 ULP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75688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D6D7E"/>
                </a:solidFill>
              </a:rPr>
              <a:t>Unit aktif
menggunakan SMART MATARAM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371600"/>
            <a:ext cx="2743200" cy="1554480"/>
          </a:xfrm>
          <a:prstGeom prst="rect">
            <a:avLst/>
          </a:prstGeom>
          <a:solidFill>
            <a:srgbClr val="E0F2F1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371600"/>
            <a:ext cx="137160" cy="155448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41732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E8B4C"/>
                </a:solidFill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075688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D6D7E"/>
                </a:solidFill>
              </a:rPr>
              <a:t>Temuan inspeksi tercatat,
tidak ada yang hilang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743200" cy="1554480"/>
          </a:xfrm>
          <a:prstGeom prst="rect">
            <a:avLst/>
          </a:prstGeom>
          <a:solidFill>
            <a:srgbClr val="E0F2F1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37160" cy="15544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1732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695C"/>
                </a:solidFill>
              </a:rPr>
              <a:t>Real-time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75688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D6D7E"/>
                </a:solidFill>
              </a:rPr>
              <a:t>Monitoring anomali gardu
overload &amp; suhu tinggi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371600"/>
            <a:ext cx="2743200" cy="1554480"/>
          </a:xfrm>
          <a:prstGeom prst="rect">
            <a:avLst/>
          </a:prstGeom>
          <a:solidFill>
            <a:srgbClr val="E0F2F1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1371600"/>
            <a:ext cx="137160" cy="155448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141732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D4E89"/>
                </a:solidFill>
              </a:rPr>
              <a:t>08.00 WITA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075688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D6D7E"/>
                </a:solidFill>
              </a:rPr>
              <a:t>Morning Brief otomatis
terkirim ke Telegram tiap hari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063240"/>
            <a:ext cx="11612880" cy="2286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090672"/>
            <a:ext cx="6400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TINGKAT PEMANFAATAN PER MODUL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090672"/>
            <a:ext cx="5120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2DFDB"/>
                </a:solidFill>
              </a:rPr>
              <a:t>Estimasi adopsi berdasarkan penggunaan aktif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291840"/>
            <a:ext cx="11612880" cy="347472"/>
          </a:xfrm>
          <a:prstGeom prst="rect">
            <a:avLst/>
          </a:prstGeom>
          <a:solidFill>
            <a:srgbClr val="E0F2F1"/>
          </a:solidFill>
          <a:ln w="635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291840"/>
            <a:ext cx="9870948" cy="34747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310128"/>
            <a:ext cx="11430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 Inspeksi Jaringan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3310128"/>
            <a:ext cx="4114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1B2631"/>
                </a:solidFill>
              </a:rPr>
              <a:t>85%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75888"/>
            <a:ext cx="11612880" cy="347472"/>
          </a:xfrm>
          <a:prstGeom prst="rect">
            <a:avLst/>
          </a:prstGeom>
          <a:solidFill>
            <a:srgbClr val="E0F2F1"/>
          </a:solidFill>
          <a:ln w="635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675888"/>
            <a:ext cx="9058046" cy="347472"/>
          </a:xfrm>
          <a:prstGeom prst="rect">
            <a:avLst/>
          </a:prstGeom>
          <a:solidFill>
            <a:srgbClr val="1E6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3694176"/>
            <a:ext cx="11430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 Inspeksi Pohon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3694176"/>
            <a:ext cx="4114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1B2631"/>
                </a:solidFill>
              </a:rPr>
              <a:t>78%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059936"/>
            <a:ext cx="11612880" cy="347472"/>
          </a:xfrm>
          <a:prstGeom prst="rect">
            <a:avLst/>
          </a:prstGeom>
          <a:solidFill>
            <a:srgbClr val="E0F2F1"/>
          </a:solidFill>
          <a:ln w="635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4059936"/>
            <a:ext cx="10683849" cy="347472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4078224"/>
            <a:ext cx="11430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 Pengukuran Gardu &amp; WO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0" y="4078224"/>
            <a:ext cx="4114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1B2631"/>
                </a:solidFill>
              </a:rPr>
              <a:t>92%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443984"/>
            <a:ext cx="11612880" cy="347472"/>
          </a:xfrm>
          <a:prstGeom prst="rect">
            <a:avLst/>
          </a:prstGeom>
          <a:solidFill>
            <a:srgbClr val="E0F2F1"/>
          </a:solidFill>
          <a:ln w="635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" y="4443984"/>
            <a:ext cx="8129015" cy="347472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462272"/>
            <a:ext cx="11430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 Score Board &amp; Morning Brief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4462272"/>
            <a:ext cx="4114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1B2631"/>
                </a:solidFill>
              </a:rPr>
              <a:t>70%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709160"/>
            <a:ext cx="3749039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72744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📋  Manajemen Inspeksi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093208"/>
            <a:ext cx="3749039" cy="153619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" y="5166360"/>
            <a:ext cx="3529583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Seluruh temuan dari semua tim (inspektor, mandorline, petugas) terpusat dalam satu sistem
●  Workflow baku: Temuan → Ditugaskan → Dalam Proses → Selesai
●  Foto dokumentasi sebelum &amp; sesudah terlampir di setiap temuan
●  Histori temuan mudah dicari kapan saja untuk evaluasi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60520" y="4709160"/>
            <a:ext cx="3749039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51960" y="472744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⚡  Monitoring Gardu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0520" y="5093208"/>
            <a:ext cx="3749039" cy="153619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0248" y="5166360"/>
            <a:ext cx="3529583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Alert otomatis gardu overload (beban ≥80%) dan suhu tinggi (&gt;60°C)
●  Work Order PDF dibuat otomatis, tidak perlu tulis tangan
●  Tracking WO sudah terkirim atau belum langsung dari aplikasi
●  Riwayat pengukuran per gardu tersimpan dan bisa dievaluasi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4709160"/>
            <a:ext cx="3749039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60" y="472744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📊  Pelaporan &amp; Evaluasi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46720" y="5093208"/>
            <a:ext cx="3749039" cy="153619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56448" y="5166360"/>
            <a:ext cx="3529583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Score Board Lead Measures dengan status WIN/LOSE tiap minggu
●  Rekap gangguan penyulang SAIDI &amp; SAIFI otomatis per bulan
●  Morning Brief harian ke Telegram: rangkuman kondisi semua ULP
●  Mode Presentasi langsung dari aplikasi untuk rapat manajemen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08  |  DAMPAK TAMBAHAN (MULTIPLIER EFFECT)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DFDB"/>
                </a:solidFill>
              </a:rPr>
              <a:t>Manfaat tidak langsung yang turut dirasakan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834640" cy="38404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988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🦺  Keselamatan Kerja (K3)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55648"/>
            <a:ext cx="2834640" cy="409651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828800"/>
            <a:ext cx="261518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Temuan berbahaya (pohon mau roboh, anomali gardu) tidak terlewat
●  Respon lebih cepat mengurangi risiko kecelakaan kerja
●  Foto lapangan terdokumentasi sebagai bukti kondisi K3
●  Pekerjaan berisiko termonitor melalui sistem, bukan asumsi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371600"/>
            <a:ext cx="2834640" cy="38404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8988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🌟  Kualitas Pelayanan Pelanggan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755648"/>
            <a:ext cx="2834640" cy="409651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828800"/>
            <a:ext cx="261518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Deteksi anomali gardu lebih cepat → gangguan lebih sedikit
●  Inspeksi pohon termonitor → risiko SAIDI/SAIFI dari pohon turun
●  Work Order lebih cepat terbit → respon perbaikan lebih singkat
●  Potensi penurunan durasi &amp; frekuensi gangguan penyulang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834640" cy="38404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8988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💼  Budaya Kerja &amp; Akuntabilitas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55648"/>
            <a:ext cx="2834640" cy="409651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828800"/>
            <a:ext cx="261518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Tim eksekutor tahu tugasnya dari sistem, bukan hanya WA
●  Progress pekerjaan tercatat dan bisa dievaluasi oleh atasan
●  Score Board membangun budaya target mingguan yang terukur
●  Morning Brief mendorong siklus evaluasi harian yang konsisten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371600"/>
            <a:ext cx="2834640" cy="38404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38988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🔄  Efisiensi Operasional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755648"/>
            <a:ext cx="2834640" cy="409651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9448" y="1828800"/>
            <a:ext cx="261518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Tidak perlu rekap manual dari berbagai sumber data
●  Laporan rapat langsung bisa ditampilkan dari aplikasi
●  UP3 hemat waktu koordinasi karena data sudah terpusat
●  Pengambilan keputusan berbasis data, bukan laporan lisan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989320"/>
            <a:ext cx="11612880" cy="64008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53328"/>
            <a:ext cx="11247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00"/>
                </a:solidFill>
              </a:rPr>
              <a:t>1 Platform  →  4 Modul  →  4 ULP  →  Banyak Tim  →  Dampak Berganda bagi PLN &amp; Pelanggan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09  |  POTENSI REPLIKASI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DFDB"/>
                </a:solidFill>
              </a:rPr>
              <a:t>Mengapa SMART MATARAM mudah diterapkan di unit lain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11612880" cy="7315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Dibangun di atas platform cloud — tidak butuh server fisik, tidak butuh anggaran besar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240280"/>
            <a:ext cx="2834640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25856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☁️  Berbasis Cloud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624328"/>
            <a:ext cx="2834640" cy="304495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697480"/>
            <a:ext cx="261518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Hosting di Vercel (gratis untuk Hobby plan)
●  Database Supabase cloud (PostgreSQL terkelola)
●  Tidak perlu server fisik atau IT infrastructure besar
●  Akses dari mana saja via browser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2240280"/>
            <a:ext cx="2834640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25856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🔧  Mudah Dikonfigurasi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2624328"/>
            <a:ext cx="2834640" cy="304495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5848" y="2697480"/>
            <a:ext cx="261518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Sistem role &amp; unit mudah disesuaikan untuk UP3 manapun
●  Nama ULP, feeder, penyulang bisa dikonfigurasi
●  Google Sheets integration pakai spreadsheet existing
●  Tidak perlu migrasi data besar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240280"/>
            <a:ext cx="2834640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25856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📈  Skalabilitas Tinggi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624328"/>
            <a:ext cx="2834640" cy="304495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2697480"/>
            <a:ext cx="261518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Sudah berjalan di 4 ULP sekaligus dalam 1 sistem
●  Bisa diperluas ke seluruh UP3 se-NTB
●  Potensi dikembangkan untuk UP3 nasional
●  Arsitektur multi-tenant siap diperluas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2240280"/>
            <a:ext cx="2834640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225856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🚀  Pengembangan Lanjutan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2624328"/>
            <a:ext cx="2834640" cy="3044952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448" y="2697480"/>
            <a:ext cx="261518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</a:rPr>
              <a:t>●  IoT sensor gardu untuk data otomatis tanpa input manual
●  AI prediksi anomali sebelum terjadi gangguan
●  Integrasi P2TL dan data pelanggan
●  Mobile app native (Android/iOS)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559552"/>
            <a:ext cx="11612880" cy="2011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557784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ROADMAP REPLIKASI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2316" y="5760720"/>
            <a:ext cx="3657600" cy="896112"/>
          </a:xfrm>
          <a:prstGeom prst="rect">
            <a:avLst/>
          </a:prstGeom>
          <a:solidFill>
            <a:srgbClr val="004D4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3756" y="5833872"/>
            <a:ext cx="731520" cy="256032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3756" y="583387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✓ Aktif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" y="58338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</a:rPr>
              <a:t>FASE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" y="61447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UP3 Mataram — 4 ULP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" y="6510528"/>
            <a:ext cx="3474720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DFDB"/>
                </a:solidFill>
              </a:rPr>
              <a:t>Ampenan · Cakranegara · Gerung · Tanjung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99916" y="6153912"/>
            <a:ext cx="27432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01084" y="6080760"/>
            <a:ext cx="73152" cy="25603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74236" y="6135624"/>
            <a:ext cx="54864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29100" y="6172200"/>
            <a:ext cx="36576" cy="7315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65676" y="5760720"/>
            <a:ext cx="3657600" cy="896112"/>
          </a:xfrm>
          <a:prstGeom prst="rect">
            <a:avLst/>
          </a:prstGeom>
          <a:solidFill>
            <a:srgbClr val="00897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57116" y="5833872"/>
            <a:ext cx="731520" cy="256032"/>
          </a:xfrm>
          <a:prstGeom prst="rect">
            <a:avLst/>
          </a:prstGeom>
          <a:solidFill>
            <a:srgbClr val="F59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7116" y="583387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→ Target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4356" y="58338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</a:rPr>
              <a:t>FASE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7116" y="61447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Seluruh UP3 se-NTB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57116" y="6510528"/>
            <a:ext cx="3474720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DFDB"/>
                </a:solidFill>
              </a:rPr>
              <a:t>PLN UID NTB — semua unit di Lombok &amp; Sumbawa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23276" y="6153912"/>
            <a:ext cx="27432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24444" y="6080760"/>
            <a:ext cx="73152" cy="25603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97596" y="6135624"/>
            <a:ext cx="54864" cy="14630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52460" y="6172200"/>
            <a:ext cx="36576" cy="7315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89036" y="5760720"/>
            <a:ext cx="3657600" cy="896112"/>
          </a:xfrm>
          <a:prstGeom prst="rect">
            <a:avLst/>
          </a:prstGeom>
          <a:solidFill>
            <a:srgbClr val="004D4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380476" y="5833872"/>
            <a:ext cx="731520" cy="256032"/>
          </a:xfrm>
          <a:prstGeom prst="rect">
            <a:avLst/>
          </a:prstGeom>
          <a:solidFill>
            <a:srgbClr val="F59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80476" y="583387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→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57716" y="58338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</a:rPr>
              <a:t>FASE 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0476" y="61447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Replikasi Nasional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0476" y="6510528"/>
            <a:ext cx="3474720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2DFDB"/>
                </a:solidFill>
              </a:rPr>
              <a:t>PLN Nusantara — semua UP3 di seluruh Indonesia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00"/>
                </a:solidFill>
              </a:rPr>
              <a:t>KESIMPULAN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SMART MATARAM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2DFDB"/>
                </a:solidFill>
              </a:rPr>
              <a:t>Satu Platform. Empat ULP. Semua Termonitor.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2103120"/>
            <a:ext cx="5760720" cy="2743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✅  Menyelesaikan masalah nyata yang dihadapi tim operasi setiap hari
✅  Sudah aktif digunakan oleh 4 ULP di bawah UP3 Mataram
✅  Dibangun dari kebutuhan lapangan, bukan teori
✅  Mudah direplikasi tanpa biaya infrastruktur besar
✅  Terus berkembang: Morning Brief, Score Board, Mode Presentasi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" y="4617720"/>
            <a:ext cx="2103120" cy="868680"/>
          </a:xfrm>
          <a:prstGeom prst="rect">
            <a:avLst/>
          </a:prstGeom>
          <a:solidFill>
            <a:srgbClr val="00897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" y="4663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 ULP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" y="50749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DFDB"/>
                </a:solidFill>
              </a:rPr>
              <a:t>Unit Aktif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38628" y="4617720"/>
            <a:ext cx="2103120" cy="868680"/>
          </a:xfrm>
          <a:prstGeom prst="rect">
            <a:avLst/>
          </a:prstGeom>
          <a:solidFill>
            <a:srgbClr val="00897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38628" y="4663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8628" y="50749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DFDB"/>
                </a:solidFill>
              </a:rPr>
              <a:t>Temuan Tercatat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2916" y="4617720"/>
            <a:ext cx="2103120" cy="868680"/>
          </a:xfrm>
          <a:prstGeom prst="rect">
            <a:avLst/>
          </a:prstGeom>
          <a:solidFill>
            <a:srgbClr val="00897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2916" y="4663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 Modul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2916" y="50749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DFDB"/>
                </a:solidFill>
              </a:rPr>
              <a:t>Terintegrasi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47204" y="4617720"/>
            <a:ext cx="2103120" cy="868680"/>
          </a:xfrm>
          <a:prstGeom prst="rect">
            <a:avLst/>
          </a:prstGeom>
          <a:solidFill>
            <a:srgbClr val="00897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7204" y="4663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08.00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7204" y="50749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DFDB"/>
                </a:solidFill>
              </a:rPr>
              <a:t>Brief Otomatis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51492" y="4617720"/>
            <a:ext cx="2103120" cy="868680"/>
          </a:xfrm>
          <a:prstGeom prst="rect">
            <a:avLst/>
          </a:prstGeom>
          <a:solidFill>
            <a:srgbClr val="00897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51492" y="4663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1492" y="50749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2DFDB"/>
                </a:solidFill>
              </a:rPr>
              <a:t>Tanpa Server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577840"/>
            <a:ext cx="11612880" cy="6400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🚀  Potensi ke Depan: IoT Sensor Gardu  ·  AI Prediksi Gangguan  ·  Integrasi P2TL  ·  Replikasi Nasional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30936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D6D7E"/>
                </a:solidFill>
              </a:rPr>
              <a:t>Tim Inovasi: Aruf Budiman  ·  Lalu Indrawan Saputra  ·  Imam Al Gazali  |  PLN UP3 Mataram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